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4" r:id="rId9"/>
    <p:sldId id="265" r:id="rId10"/>
    <p:sldId id="266" r:id="rId11"/>
    <p:sldId id="267" r:id="rId1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8" d="100"/>
          <a:sy n="88" d="100"/>
        </p:scale>
        <p:origin x="45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raisy Arief" userId="8de79730a1d530cb" providerId="LiveId" clId="{B2D96C77-98FC-4309-A796-F70F41FF3CAD}"/>
    <pc:docChg chg="delSld">
      <pc:chgData name="Arraisy Arief" userId="8de79730a1d530cb" providerId="LiveId" clId="{B2D96C77-98FC-4309-A796-F70F41FF3CAD}" dt="2026-10-29T03:01:18.099" v="2" actId="47"/>
      <pc:docMkLst>
        <pc:docMk/>
      </pc:docMkLst>
      <pc:sldChg chg="del">
        <pc:chgData name="Arraisy Arief" userId="8de79730a1d530cb" providerId="LiveId" clId="{B2D96C77-98FC-4309-A796-F70F41FF3CAD}" dt="2026-10-29T03:01:18.099" v="2" actId="47"/>
        <pc:sldMkLst>
          <pc:docMk/>
          <pc:sldMk cId="846702959" sldId="268"/>
        </pc:sldMkLst>
      </pc:sldChg>
      <pc:sldChg chg="del">
        <pc:chgData name="Arraisy Arief" userId="8de79730a1d530cb" providerId="LiveId" clId="{B2D96C77-98FC-4309-A796-F70F41FF3CAD}" dt="2026-10-29T03:01:17.316" v="1" actId="47"/>
        <pc:sldMkLst>
          <pc:docMk/>
          <pc:sldMk cId="2717528357" sldId="269"/>
        </pc:sldMkLst>
      </pc:sldChg>
      <pc:sldChg chg="del">
        <pc:chgData name="Arraisy Arief" userId="8de79730a1d530cb" providerId="LiveId" clId="{B2D96C77-98FC-4309-A796-F70F41FF3CAD}" dt="2026-10-29T03:01:16.135" v="0" actId="47"/>
        <pc:sldMkLst>
          <pc:docMk/>
          <pc:sldMk cId="110724001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B634-8F85-31F9-2C52-C15943904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74BBF-DFF7-62C3-537B-6AE525FD5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96E5C-FC39-FC12-90B6-AED1721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4E15-4411-A502-828C-18E3F62B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62090-5B4C-86B6-1D0A-DD93A979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391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B02A-8956-FFFD-4871-7EA0C95A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7614-B7B0-C7A0-87B3-CFFE74597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644A2-5E1E-4BC5-277A-C1CCBD24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F5CB-DCA8-2BB8-3F8D-7F854E1E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0EE30-5BDF-4DAC-7BD3-E97F3E5C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09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AF9D-CE73-E555-649F-15F4C5A4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9F04A-A2F2-4704-352D-8D7A058B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22261-4329-0D7B-7F47-57E81273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5FE73-A62C-2B1A-3D24-75DF45D9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769D-2B24-E196-88A8-38074CCB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117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3353-003A-6A20-9ACF-544955E3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A13D-59D1-6C7B-8266-083E3A8B2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BB049-EE3C-5719-38F1-21A6052A7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FF02F-56F4-A677-652B-D73F2EC1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B9A79-5EB5-E65B-B0B7-F070E9C4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7E897-4539-00BA-3406-CEA65932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649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B98D-A467-113C-2150-DAAEE252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C6EF-0485-A9F4-4BBC-B0CF388A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26049-2A5E-A809-05AB-8BEC7BD56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BE10F-CFC7-B3C4-3BC1-56524D106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0EEE0-2A70-2212-39EB-496295CBD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248F2-E76C-0AE9-2DC3-9871294C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BABB9-69BD-510A-45CF-7C7B18E6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0E801-209A-5A59-2B52-9DB35235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645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FD02-6C92-46ED-27CC-C0DB1D9C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5BB98-FAD3-C0B8-FB0E-AEA5D1D9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205DD-0069-FCF8-EA7B-62645FD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E3FEA-8A77-40DD-25E9-402D5353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400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33770-AB9E-E3FE-C351-AD4B707C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7A09D-1BE2-3DD3-6DC3-E16067D2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DA757-23CB-9968-50BD-904C5908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616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3885-1DA3-85D0-92F7-83C6FB7E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5EA7-C04C-21D5-0888-16D8F580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A82EE-8464-B495-6D34-2AD4224BE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209E5-ECDE-4483-7F86-9FDAEB0F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4A9A-E3CF-66F8-09FE-F981AF18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6B8EF-7BF1-2FBD-9F7C-489718F5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122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6E9C-8985-5C0E-ECB8-3B572907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A3673-8D56-BA13-266E-926A8E76AF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24E5D-46BC-4322-19A0-E1836A28A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384DB-3ACF-863B-EC2D-3B305A15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91AFD-F90D-E55F-5411-BF0EEE09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68B3-7A25-06FF-D761-7A65453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686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403C-1928-3229-C022-D9E56ED7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1FE00-7AF9-9DDD-0DC6-E99CDDFA2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7C30-ED8F-DBB5-8D40-9176BFC9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3FAF-E9F7-6C9B-70AB-9EEAC55C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63EF5-B2D2-3A41-3DEB-3943E42C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728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3C233-7E7B-0CB7-E026-518AFA04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6782C-5A1F-DB42-2125-069C4A9AB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5B67-CCB9-2B39-D054-0B318413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2356B-126F-0B76-60B7-E59A0E74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2032-194C-CB23-5AE2-51514971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326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FAADA-95A3-B254-4D42-843D7572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C289-EA6F-314F-2B1D-46939704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6E217-196E-0BE7-5F4E-273B696B6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396A5-EC94-487F-91EE-260FE5CAF1EB}" type="datetimeFigureOut">
              <a:rPr lang="en-ID" smtClean="0"/>
              <a:t>29/10/2026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F0997-0914-8A70-7C24-2BEAA346E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9A6ED-8E48-ED46-D819-188B81B4C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787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34E6-C491-0505-D69F-60855BBBF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69" y="2953279"/>
            <a:ext cx="9144000" cy="961496"/>
          </a:xfrm>
        </p:spPr>
        <p:txBody>
          <a:bodyPr>
            <a:normAutofit fontScale="90000"/>
          </a:bodyPr>
          <a:lstStyle/>
          <a:p>
            <a:r>
              <a:rPr lang="en-US" dirty="0"/>
              <a:t>Cosmic Ray Moun Tomography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E0FEC-3BBC-8C51-541B-7004EBFA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069" y="3829050"/>
            <a:ext cx="9144000" cy="487362"/>
          </a:xfrm>
        </p:spPr>
        <p:txBody>
          <a:bodyPr/>
          <a:lstStyle/>
          <a:p>
            <a:r>
              <a:rPr lang="en-US" dirty="0"/>
              <a:t>Cosmic ray </a:t>
            </a:r>
            <a:r>
              <a:rPr lang="en-US" dirty="0" err="1"/>
              <a:t>moun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17AB3-FAB4-AD10-BB63-61024B2A6293}"/>
              </a:ext>
            </a:extLst>
          </p:cNvPr>
          <p:cNvSpPr txBox="1"/>
          <p:nvPr/>
        </p:nvSpPr>
        <p:spPr>
          <a:xfrm>
            <a:off x="-67734" y="6247620"/>
            <a:ext cx="178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 </a:t>
            </a:r>
            <a:r>
              <a:rPr lang="en-US" dirty="0" err="1"/>
              <a:t>oktober</a:t>
            </a:r>
            <a:r>
              <a:rPr lang="en-US" dirty="0"/>
              <a:t> 2026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A4AF5-86E8-2193-ADD3-0E44916E2A27}"/>
              </a:ext>
            </a:extLst>
          </p:cNvPr>
          <p:cNvSpPr txBox="1"/>
          <p:nvPr/>
        </p:nvSpPr>
        <p:spPr>
          <a:xfrm>
            <a:off x="11519252" y="6507202"/>
            <a:ext cx="67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Ver.1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2AD6D-4B4D-1381-18AF-523254FEB308}"/>
              </a:ext>
            </a:extLst>
          </p:cNvPr>
          <p:cNvSpPr txBox="1"/>
          <p:nvPr/>
        </p:nvSpPr>
        <p:spPr>
          <a:xfrm>
            <a:off x="10925820" y="651406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0A574-1889-BCF5-F582-7B97CBE42CF6}"/>
              </a:ext>
            </a:extLst>
          </p:cNvPr>
          <p:cNvSpPr txBox="1"/>
          <p:nvPr/>
        </p:nvSpPr>
        <p:spPr>
          <a:xfrm>
            <a:off x="-67734" y="6514068"/>
            <a:ext cx="383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Muhammad Arraisy Arief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CD7BD-A68A-EE9F-3724-CC9EAB57190B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BEE09675-2388-E215-E369-C81D09945D14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7FA48353-C110-BFC6-4FEB-A1F007B6B7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176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6A39-4724-0B7F-181F-E4F9FA1C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6B4EC3-0CEF-C771-38BF-DC9AFAAEB66E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D9052-8709-B140-C080-31D7A52DE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Pendahuluan</a:t>
            </a:r>
            <a:endParaRPr lang="en-ID" sz="4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278A141-1889-910B-4982-3674AA55830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79714" y="1605871"/>
                <a:ext cx="9976757" cy="3771900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Moun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merupakan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partikel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elementer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mirip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electron,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namun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massanya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≈207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kali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massa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elektron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/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terbentuk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ketika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cosmic ray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tinggi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luar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angkasa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berinteraksi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atmosfer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Bumi,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menghasilkan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partikel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sekunder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salah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satunya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muon.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kemudian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terus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mencapai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permukaan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Bumi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rata-rata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sekitar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3–4 GeV. </a:t>
                </a:r>
              </a:p>
              <a:p>
                <a:pPr algn="l"/>
                <a:endParaRPr lang="en-ID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Karena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memiliki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tinggi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dan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penetrasi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dapat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melewati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material yang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tebal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dan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padat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Hal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memungkinkan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digunakan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memperoleh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informasi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mengenai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bagian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dalam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berukuran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tanpa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harus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membukanya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278A141-1889-910B-4982-3674AA558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79714" y="1605871"/>
                <a:ext cx="9976757" cy="3771900"/>
              </a:xfrm>
              <a:blipFill>
                <a:blip r:embed="rId2"/>
                <a:stretch>
                  <a:fillRect l="-856" t="-2262" b="-242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6AD37704-8974-4E61-CE47-B75F34BA00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17F235-3F4B-CEAF-F771-EDB48C198D0F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D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0DCFCC-B4C5-A860-88DC-C758B1BF652F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29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3BB5-64B0-D44E-C12B-8D87165A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4161CE-8484-8075-8C4B-43F202DF2E32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E4A27-3F1C-5EC2-4672-4D1C72C95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Pemanfaatan</a:t>
            </a:r>
            <a:r>
              <a:rPr lang="en-US" sz="4000" dirty="0">
                <a:solidFill>
                  <a:schemeClr val="bg1"/>
                </a:solidFill>
              </a:rPr>
              <a:t> Moun </a:t>
            </a:r>
            <a:r>
              <a:rPr lang="en-US" sz="4000" dirty="0" err="1">
                <a:solidFill>
                  <a:schemeClr val="bg1"/>
                </a:solidFill>
              </a:rPr>
              <a:t>sebagai</a:t>
            </a:r>
            <a:r>
              <a:rPr lang="en-US" sz="4000" dirty="0">
                <a:solidFill>
                  <a:schemeClr val="bg1"/>
                </a:solidFill>
              </a:rPr>
              <a:t> Tomography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5C960-AA11-5885-D626-8EF934F1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1605871"/>
            <a:ext cx="7811860" cy="382338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memungkinkan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cosmic ray muon tomography,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prinsip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serupa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X-ray radiography.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Perbedaannya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X-ray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buatan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sedangkan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tomography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memanfaatkan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cosmic ray.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D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suatu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interaksi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lintasan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berhasil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mereknstruksi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karakteristik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 di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F1D9143D-4259-3550-C1A2-A7E27BD8E3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44F12-C751-F210-11F3-FFDB5CF48BFB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64B6F-7922-019A-C17D-C8FC7E37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7"/>
          <a:stretch>
            <a:fillRect/>
          </a:stretch>
        </p:blipFill>
        <p:spPr>
          <a:xfrm>
            <a:off x="9084593" y="1680654"/>
            <a:ext cx="2487385" cy="38625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80ABAC-DF21-442C-28F7-BA2428E209DB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94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0AFC-EBA5-8DA9-EC0A-727A33D3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7BEBD-493B-0915-8D04-AC968E2F6E3B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E3F68-56B0-C01A-12FF-5757DE0E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Interaksi</a:t>
            </a:r>
            <a:r>
              <a:rPr lang="en-US" sz="4000" dirty="0">
                <a:solidFill>
                  <a:schemeClr val="bg1"/>
                </a:solidFill>
              </a:rPr>
              <a:t> Moun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Material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B3714-06ED-E192-A346-C2CFCC770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907" y="1532279"/>
            <a:ext cx="10412186" cy="4585377"/>
          </a:xfrm>
        </p:spPr>
        <p:txBody>
          <a:bodyPr>
            <a:noAutofit/>
          </a:bodyPr>
          <a:lstStyle/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dimanfaatkan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 scattering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 Coulomb scattering,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lintasannya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Besar scattering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dipengaruhi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densitas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komposisi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</a:t>
            </a:r>
          </a:p>
          <a:p>
            <a:pPr algn="l"/>
            <a:endParaRPr lang="en-ID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 absorption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 Sebagian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energinya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berhenti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terserap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A1C7522C-6F5A-DE56-C089-0D7F3D779A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2AC6AD-43F9-2601-DFA2-57B1B92B0D0F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000E25-F16B-F0EF-74E4-EB529D6CE6AB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58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5DD7-940C-080D-53B1-75785370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C93C-CE89-80A9-88BE-3D0378D4F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869" y="3296179"/>
            <a:ext cx="9144000" cy="961496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F8D72-87CD-2D94-1A3D-8F248C11AFF7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11A3F580-B378-BD5A-48CF-648D203EF669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409ACD45-10DB-E585-1BB0-06C08E59E7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77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9937-130D-75E0-695B-775D6E40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587E-5D63-8490-A767-C98999903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69" y="2953279"/>
            <a:ext cx="9144000" cy="961496"/>
          </a:xfrm>
        </p:spPr>
        <p:txBody>
          <a:bodyPr>
            <a:normAutofit fontScale="90000"/>
          </a:bodyPr>
          <a:lstStyle/>
          <a:p>
            <a:r>
              <a:rPr lang="en-US" dirty="0"/>
              <a:t>Cosmic Ray Moun Tomography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9B3BE-8776-F4D6-2BC5-A289BA9C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069" y="3829050"/>
            <a:ext cx="9144000" cy="487362"/>
          </a:xfrm>
        </p:spPr>
        <p:txBody>
          <a:bodyPr/>
          <a:lstStyle/>
          <a:p>
            <a:r>
              <a:rPr lang="en-US" dirty="0"/>
              <a:t>Cosmic ray </a:t>
            </a:r>
            <a:r>
              <a:rPr lang="en-US" dirty="0" err="1"/>
              <a:t>moun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73A1F-CA59-749D-A91F-8448C08A8997}"/>
              </a:ext>
            </a:extLst>
          </p:cNvPr>
          <p:cNvSpPr txBox="1"/>
          <p:nvPr/>
        </p:nvSpPr>
        <p:spPr>
          <a:xfrm>
            <a:off x="-67734" y="6247620"/>
            <a:ext cx="178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29 </a:t>
            </a:r>
            <a:r>
              <a:rPr lang="en-US" dirty="0" err="1"/>
              <a:t>oktober</a:t>
            </a:r>
            <a:r>
              <a:rPr lang="en-US" dirty="0"/>
              <a:t> 2026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27492-7931-90C8-7A64-BB522469B80C}"/>
              </a:ext>
            </a:extLst>
          </p:cNvPr>
          <p:cNvSpPr txBox="1"/>
          <p:nvPr/>
        </p:nvSpPr>
        <p:spPr>
          <a:xfrm>
            <a:off x="11519252" y="6507202"/>
            <a:ext cx="67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Ver.2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C3E52-7C24-B7BA-8BA7-A253465528F6}"/>
              </a:ext>
            </a:extLst>
          </p:cNvPr>
          <p:cNvSpPr txBox="1"/>
          <p:nvPr/>
        </p:nvSpPr>
        <p:spPr>
          <a:xfrm>
            <a:off x="10925820" y="651406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77B4D-8059-CA85-20C1-ABBDCD5FB812}"/>
              </a:ext>
            </a:extLst>
          </p:cNvPr>
          <p:cNvSpPr txBox="1"/>
          <p:nvPr/>
        </p:nvSpPr>
        <p:spPr>
          <a:xfrm>
            <a:off x="-67734" y="6514068"/>
            <a:ext cx="383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Muhammad Arraisy Arief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D5705A-C96D-168E-627D-FC1B39859B9F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C09F1532-ACFA-10BE-6266-D71D15738EDB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3B753E02-B636-4039-DB4E-4F785574AE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73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E1DC5-1BF9-6A6D-D0A0-6334D7A8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CF21B2-995A-6336-C5F1-3C07FC5A9F1F}"/>
              </a:ext>
            </a:extLst>
          </p:cNvPr>
          <p:cNvSpPr/>
          <p:nvPr/>
        </p:nvSpPr>
        <p:spPr>
          <a:xfrm>
            <a:off x="0" y="0"/>
            <a:ext cx="12192000" cy="90112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C7BE1-E912-BAC5-D021-34778AF95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70174"/>
            <a:ext cx="9144000" cy="74308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Cosmic Ray Muon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03C08-C39F-8A6F-4D2A-27B9B72AB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717" y="1070792"/>
            <a:ext cx="10892434" cy="947255"/>
          </a:xfrm>
        </p:spPr>
        <p:txBody>
          <a:bodyPr>
            <a:noAutofit/>
          </a:bodyPr>
          <a:lstStyle/>
          <a:p>
            <a:pPr lvl="0" algn="l"/>
            <a:r>
              <a:rPr lang="en-US" sz="1800" b="1" dirty="0"/>
              <a:t>Cosmic Ray </a:t>
            </a:r>
            <a:r>
              <a:rPr lang="en-US" sz="1800" dirty="0"/>
              <a:t>= </a:t>
            </a:r>
            <a:r>
              <a:rPr lang="en-US" sz="1800" dirty="0" err="1"/>
              <a:t>partikel</a:t>
            </a:r>
            <a:r>
              <a:rPr lang="en-US" sz="1800" dirty="0"/>
              <a:t> </a:t>
            </a:r>
            <a:r>
              <a:rPr lang="en-US" sz="1800" dirty="0" err="1"/>
              <a:t>berenergi</a:t>
            </a:r>
            <a:r>
              <a:rPr lang="en-US" sz="1800" dirty="0"/>
              <a:t> </a:t>
            </a:r>
            <a:r>
              <a:rPr lang="en-US" sz="1800" dirty="0" err="1"/>
              <a:t>tinggi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luar</a:t>
            </a:r>
            <a:r>
              <a:rPr lang="en-US" sz="1800" dirty="0"/>
              <a:t> </a:t>
            </a:r>
            <a:r>
              <a:rPr lang="en-US" sz="1800" dirty="0" err="1"/>
              <a:t>angkasa</a:t>
            </a:r>
            <a:r>
              <a:rPr lang="en-US" sz="1800" dirty="0"/>
              <a:t> (</a:t>
            </a:r>
            <a:r>
              <a:rPr lang="en-US" sz="1800" b="1" dirty="0"/>
              <a:t>proton &amp; inti atom</a:t>
            </a:r>
            <a:r>
              <a:rPr lang="en-US" sz="1800" dirty="0"/>
              <a:t>), yang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b="1" dirty="0" err="1"/>
              <a:t>menghasilkan</a:t>
            </a:r>
            <a:r>
              <a:rPr lang="en-US" sz="1800" b="1" dirty="0"/>
              <a:t> </a:t>
            </a:r>
            <a:r>
              <a:rPr lang="en-US" sz="1800" b="1" dirty="0" err="1"/>
              <a:t>partikel</a:t>
            </a:r>
            <a:r>
              <a:rPr lang="en-US" sz="1800" b="1" dirty="0"/>
              <a:t> </a:t>
            </a:r>
            <a:r>
              <a:rPr lang="en-US" sz="1800" b="1" dirty="0" err="1"/>
              <a:t>sekunder</a:t>
            </a:r>
            <a:r>
              <a:rPr lang="en-US" sz="1800" b="1" dirty="0"/>
              <a:t> </a:t>
            </a:r>
            <a:r>
              <a:rPr lang="en-US" sz="1800" dirty="0"/>
              <a:t>(pion &amp; kaon)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atmosfer</a:t>
            </a:r>
            <a:r>
              <a:rPr lang="en-US" sz="1800" dirty="0"/>
              <a:t> </a:t>
            </a:r>
            <a:r>
              <a:rPr lang="en-US" sz="1800" dirty="0" err="1"/>
              <a:t>bumi</a:t>
            </a:r>
            <a:r>
              <a:rPr lang="en-US" sz="1800" dirty="0"/>
              <a:t>, yang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b="1" dirty="0" err="1"/>
              <a:t>meluruh</a:t>
            </a:r>
            <a:r>
              <a:rPr lang="en-US" sz="1800" b="1" dirty="0"/>
              <a:t> </a:t>
            </a:r>
            <a:r>
              <a:rPr lang="en-US" sz="1800" b="1" dirty="0" err="1"/>
              <a:t>menjadi</a:t>
            </a:r>
            <a:r>
              <a:rPr lang="en-US" sz="1800" b="1" dirty="0"/>
              <a:t> </a:t>
            </a:r>
            <a:r>
              <a:rPr lang="en-US" sz="1800" b="1" dirty="0" err="1"/>
              <a:t>moun</a:t>
            </a:r>
            <a:r>
              <a:rPr lang="en-US" sz="1800" dirty="0"/>
              <a:t>.</a:t>
            </a:r>
          </a:p>
          <a:p>
            <a:pPr lvl="0" algn="l"/>
            <a:r>
              <a:rPr lang="en-US" sz="1800" i="1" dirty="0"/>
              <a:t>Muon </a:t>
            </a:r>
            <a:r>
              <a:rPr lang="en-US" sz="1800" i="1" dirty="0" err="1"/>
              <a:t>dapat</a:t>
            </a:r>
            <a:r>
              <a:rPr lang="en-US" sz="1800" b="1" i="1" dirty="0"/>
              <a:t> </a:t>
            </a:r>
            <a:r>
              <a:rPr lang="en-US" sz="1800" b="1" i="1" dirty="0" err="1"/>
              <a:t>mencapai</a:t>
            </a:r>
            <a:r>
              <a:rPr lang="en-US" sz="1800" b="1" i="1" dirty="0"/>
              <a:t> </a:t>
            </a:r>
            <a:r>
              <a:rPr lang="en-US" sz="1800" b="1" i="1" dirty="0" err="1"/>
              <a:t>permukaan</a:t>
            </a:r>
            <a:r>
              <a:rPr lang="en-US" sz="1800" b="1" i="1" dirty="0"/>
              <a:t> </a:t>
            </a:r>
            <a:r>
              <a:rPr lang="en-US" sz="1800" b="1" i="1" dirty="0" err="1"/>
              <a:t>bumi</a:t>
            </a:r>
            <a:r>
              <a:rPr lang="en-US" sz="1800" b="1" i="1" dirty="0"/>
              <a:t> + </a:t>
            </a:r>
            <a:r>
              <a:rPr lang="en-US" sz="1800" b="1" i="1" dirty="0" err="1"/>
              <a:t>menembus</a:t>
            </a:r>
            <a:r>
              <a:rPr lang="en-US" sz="1800" b="1" i="1" dirty="0"/>
              <a:t> </a:t>
            </a:r>
            <a:r>
              <a:rPr lang="en-US" sz="1800" b="1" i="1" dirty="0" err="1"/>
              <a:t>objek</a:t>
            </a:r>
            <a:r>
              <a:rPr lang="en-US" sz="1800" b="1" i="1" dirty="0"/>
              <a:t> </a:t>
            </a:r>
            <a:r>
              <a:rPr lang="en-US" sz="1800" b="1" i="1" dirty="0" err="1"/>
              <a:t>tebal</a:t>
            </a:r>
            <a:endParaRPr lang="en-US" sz="1800" b="1" i="1" dirty="0"/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AC55E83D-D3C6-D4B4-F490-49632A32F5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9007" y="60634"/>
            <a:ext cx="743080" cy="7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3E3BB1-8196-7FCE-F0A4-3CACA955FDC5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D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1F4464-DF52-332D-C853-8098CEFEEA4E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E9D9275-5DEC-C0E3-1F03-FAE6BCB70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1268478"/>
                  </p:ext>
                </p:extLst>
              </p:nvPr>
            </p:nvGraphicFramePr>
            <p:xfrm>
              <a:off x="891986" y="2420401"/>
              <a:ext cx="10106370" cy="2743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21274">
                      <a:extLst>
                        <a:ext uri="{9D8B030D-6E8A-4147-A177-3AD203B41FA5}">
                          <a16:colId xmlns:a16="http://schemas.microsoft.com/office/drawing/2014/main" val="4121714079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515381831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4195737448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125853819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2630299311"/>
                        </a:ext>
                      </a:extLst>
                    </a:gridCol>
                  </a:tblGrid>
                  <a:tr h="2619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>
                              <a:solidFill>
                                <a:schemeClr val="bg1"/>
                              </a:solidFill>
                            </a:rPr>
                            <a:t>Karakteristik</a:t>
                          </a:r>
                          <a:endParaRPr lang="en-ID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Alfa (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Beta (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Gamma (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oMath>
                          </a14:m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Muon (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ID" sz="160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201854"/>
                      </a:ext>
                    </a:extLst>
                  </a:tr>
                  <a:tr h="2619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Bentuk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Inti helium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Elektron/positron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Foton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Partikel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elementer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7130762"/>
                      </a:ext>
                    </a:extLst>
                  </a:tr>
                  <a:tr h="2619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Muatan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(+2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ID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(-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ID" sz="1600" dirty="0"/>
                            <a:t>) </a:t>
                          </a:r>
                          <a:r>
                            <a:rPr lang="en-ID" sz="1600" dirty="0" err="1"/>
                            <a:t>atau</a:t>
                          </a:r>
                          <a:r>
                            <a:rPr lang="en-ID" sz="1600" dirty="0"/>
                            <a:t> (+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ID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(-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ID" sz="1600" dirty="0"/>
                            <a:t>) </a:t>
                          </a:r>
                          <a:r>
                            <a:rPr lang="en-ID" sz="1600" dirty="0" err="1"/>
                            <a:t>atau</a:t>
                          </a:r>
                          <a:r>
                            <a:rPr lang="en-ID" sz="1600" dirty="0"/>
                            <a:t> (+</a:t>
                          </a:r>
                          <a14:m>
                            <m:oMath xmlns:m="http://schemas.openxmlformats.org/officeDocument/2006/math">
                              <m:r>
                                <a:rPr lang="en-ID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r>
                            <a:rPr lang="en-ID" sz="16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8693673"/>
                      </a:ext>
                    </a:extLst>
                  </a:tr>
                  <a:tr h="45252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Daya tembus umum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Rendah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Sedang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Tinggi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Tinggi pada </a:t>
                          </a:r>
                          <a:r>
                            <a:rPr lang="en-ID" sz="1600" dirty="0" err="1"/>
                            <a:t>energi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kosmik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1874990"/>
                      </a:ext>
                    </a:extLst>
                  </a:tr>
                  <a:tr h="51732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Interaksi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utama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kuat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dan hamburan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Interaksi foton dengan materi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dan hamburan Coulomb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5683653"/>
                      </a:ext>
                    </a:extLst>
                  </a:tr>
                  <a:tr h="51732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Potensi </a:t>
                          </a:r>
                          <a:r>
                            <a:rPr lang="en-ID" sz="1600" dirty="0" err="1"/>
                            <a:t>bahaya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biologis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Berbahaya jika masuk ke tubuh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Bergantung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energi</a:t>
                          </a:r>
                          <a:r>
                            <a:rPr lang="en-ID" sz="1600" dirty="0"/>
                            <a:t> dan </a:t>
                          </a:r>
                          <a:r>
                            <a:rPr lang="en-ID" sz="1600" dirty="0" err="1"/>
                            <a:t>dosis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Bergantung energi dan dosis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Dapat </a:t>
                          </a:r>
                          <a:r>
                            <a:rPr lang="en-ID" sz="1600" dirty="0" err="1"/>
                            <a:t>mengionisasi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jaringan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16487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E9D9275-5DEC-C0E3-1F03-FAE6BCB70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1268478"/>
                  </p:ext>
                </p:extLst>
              </p:nvPr>
            </p:nvGraphicFramePr>
            <p:xfrm>
              <a:off x="891986" y="2420401"/>
              <a:ext cx="10106370" cy="27432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21274">
                      <a:extLst>
                        <a:ext uri="{9D8B030D-6E8A-4147-A177-3AD203B41FA5}">
                          <a16:colId xmlns:a16="http://schemas.microsoft.com/office/drawing/2014/main" val="4121714079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515381831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4195737448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125853819"/>
                        </a:ext>
                      </a:extLst>
                    </a:gridCol>
                    <a:gridCol w="2021274">
                      <a:extLst>
                        <a:ext uri="{9D8B030D-6E8A-4147-A177-3AD203B41FA5}">
                          <a16:colId xmlns:a16="http://schemas.microsoft.com/office/drawing/2014/main" val="263029931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>
                              <a:solidFill>
                                <a:schemeClr val="bg1"/>
                              </a:solidFill>
                            </a:rPr>
                            <a:t>Karakteristik</a:t>
                          </a:r>
                          <a:endParaRPr lang="en-ID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1" t="-5455" r="-300301" b="-7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06" t="-5455" r="-201208" b="-7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000" t="-5455" r="-100602" b="-7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5455" r="-602" b="-7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20185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Bentuk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Inti helium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Elektron/positron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Foton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Partikel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elementer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7713076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Muatan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301" t="-205455" r="-300301" b="-5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06" t="-205455" r="-201208" b="-5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205455" r="-602" b="-5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69367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Daya tembus umum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Rendah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Sedang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Tinggi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Tinggi pada </a:t>
                          </a:r>
                          <a:r>
                            <a:rPr lang="en-ID" sz="1600" dirty="0" err="1"/>
                            <a:t>energi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kosmik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187499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Interaksi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utama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kuat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dan hamburan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Interaksi foton dengan materi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Ionisasi dan hamburan Coulomb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568365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Potensi </a:t>
                          </a:r>
                          <a:r>
                            <a:rPr lang="en-ID" sz="1600" dirty="0" err="1"/>
                            <a:t>bahaya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biologis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Berbahaya jika masuk ke tubuh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 err="1"/>
                            <a:t>Bergantung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energi</a:t>
                          </a:r>
                          <a:r>
                            <a:rPr lang="en-ID" sz="1600" dirty="0"/>
                            <a:t> dan </a:t>
                          </a:r>
                          <a:r>
                            <a:rPr lang="en-ID" sz="1600" dirty="0" err="1"/>
                            <a:t>dosis</a:t>
                          </a:r>
                          <a:endParaRPr lang="en-ID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/>
                            <a:t>Bergantung energi dan dosis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D" sz="1600" dirty="0"/>
                            <a:t>Dapat </a:t>
                          </a:r>
                          <a:r>
                            <a:rPr lang="en-ID" sz="1600" dirty="0" err="1"/>
                            <a:t>mengionisasi</a:t>
                          </a:r>
                          <a:r>
                            <a:rPr lang="en-ID" sz="1600" dirty="0"/>
                            <a:t> </a:t>
                          </a:r>
                          <a:r>
                            <a:rPr lang="en-ID" sz="1600" dirty="0" err="1"/>
                            <a:t>jaringan</a:t>
                          </a:r>
                          <a:endParaRPr lang="en-ID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1648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436EECB-B47B-2368-93A9-1E63535FBFDC}"/>
              </a:ext>
            </a:extLst>
          </p:cNvPr>
          <p:cNvSpPr txBox="1"/>
          <p:nvPr/>
        </p:nvSpPr>
        <p:spPr>
          <a:xfrm>
            <a:off x="4609251" y="2143402"/>
            <a:ext cx="248370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00000"/>
                </a:solidFill>
                <a:latin typeface="Aptos"/>
              </a:rPr>
              <a:t>Tabel 1</a:t>
            </a:r>
            <a:r>
              <a:rPr lang="en-US" sz="1200" dirty="0">
                <a:solidFill>
                  <a:srgbClr val="000000"/>
                </a:solidFill>
                <a:latin typeface="Aptos"/>
              </a:rPr>
              <a:t>. </a:t>
            </a:r>
            <a:r>
              <a:rPr lang="en-ID" sz="1200" dirty="0" err="1"/>
              <a:t>Perbandingan</a:t>
            </a:r>
            <a:r>
              <a:rPr lang="en-ID" sz="1200" dirty="0"/>
              <a:t> </a:t>
            </a:r>
            <a:r>
              <a:rPr lang="en-ID" sz="1200" dirty="0" err="1"/>
              <a:t>jenis</a:t>
            </a:r>
            <a:r>
              <a:rPr lang="en-ID" sz="1200" dirty="0"/>
              <a:t> </a:t>
            </a:r>
            <a:r>
              <a:rPr lang="en-ID" sz="1200" dirty="0" err="1"/>
              <a:t>radiasi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B37CD-AF0C-4A13-6822-556313A97D56}"/>
              </a:ext>
            </a:extLst>
          </p:cNvPr>
          <p:cNvSpPr txBox="1"/>
          <p:nvPr/>
        </p:nvSpPr>
        <p:spPr>
          <a:xfrm>
            <a:off x="555717" y="5331007"/>
            <a:ext cx="10713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D" dirty="0">
                <a:sym typeface="Wingdings" panose="05000000000000000000" pitchFamily="2" charset="2"/>
              </a:rPr>
              <a:t>Muon: </a:t>
            </a:r>
            <a:r>
              <a:rPr lang="en-ID" dirty="0" err="1">
                <a:sym typeface="Wingdings" panose="05000000000000000000" pitchFamily="2" charset="2"/>
              </a:rPr>
              <a:t>dapat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menembus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objek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tebal</a:t>
            </a:r>
            <a:r>
              <a:rPr lang="en-ID" dirty="0">
                <a:sym typeface="Wingdings" panose="05000000000000000000" pitchFamily="2" charset="2"/>
              </a:rPr>
              <a:t>, </a:t>
            </a:r>
            <a:r>
              <a:rPr lang="en-ID" b="1" dirty="0" err="1">
                <a:sym typeface="Wingdings" panose="05000000000000000000" pitchFamily="2" charset="2"/>
              </a:rPr>
              <a:t>lintasan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berubah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saat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berinteraksi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dengan</a:t>
            </a:r>
            <a:r>
              <a:rPr lang="en-ID" dirty="0">
                <a:sym typeface="Wingdings" panose="05000000000000000000" pitchFamily="2" charset="2"/>
              </a:rPr>
              <a:t> material, Sebagian </a:t>
            </a:r>
            <a:r>
              <a:rPr lang="en-ID" dirty="0" err="1">
                <a:sym typeface="Wingdings" panose="05000000000000000000" pitchFamily="2" charset="2"/>
              </a:rPr>
              <a:t>dapat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kehilangan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b="1" dirty="0" err="1">
                <a:sym typeface="Wingdings" panose="05000000000000000000" pitchFamily="2" charset="2"/>
              </a:rPr>
              <a:t>energi</a:t>
            </a:r>
            <a:r>
              <a:rPr lang="en-ID" b="1" dirty="0">
                <a:sym typeface="Wingdings" panose="05000000000000000000" pitchFamily="2" charset="2"/>
              </a:rPr>
              <a:t> dan </a:t>
            </a:r>
            <a:r>
              <a:rPr lang="en-ID" b="1" dirty="0" err="1">
                <a:sym typeface="Wingdings" panose="05000000000000000000" pitchFamily="2" charset="2"/>
              </a:rPr>
              <a:t>berhenti</a:t>
            </a:r>
            <a:r>
              <a:rPr lang="en-ID" b="1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dalam</a:t>
            </a:r>
            <a:r>
              <a:rPr lang="en-ID" dirty="0">
                <a:sym typeface="Wingdings" panose="05000000000000000000" pitchFamily="2" charset="2"/>
              </a:rPr>
              <a:t> </a:t>
            </a:r>
            <a:r>
              <a:rPr lang="en-ID" dirty="0" err="1">
                <a:sym typeface="Wingdings" panose="05000000000000000000" pitchFamily="2" charset="2"/>
              </a:rPr>
              <a:t>objek</a:t>
            </a:r>
            <a:r>
              <a:rPr lang="en-ID" dirty="0">
                <a:sym typeface="Wingdings" panose="05000000000000000000" pitchFamily="2" charset="2"/>
              </a:rPr>
              <a:t> 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lintasan</a:t>
            </a:r>
            <a:r>
              <a:rPr lang="en-ID" dirty="0"/>
              <a:t> dan </a:t>
            </a:r>
            <a:r>
              <a:rPr lang="en-ID" dirty="0" err="1"/>
              <a:t>jumlah</a:t>
            </a:r>
            <a:r>
              <a:rPr lang="en-ID" dirty="0"/>
              <a:t> muon yang </a:t>
            </a:r>
            <a:r>
              <a:rPr lang="en-ID" dirty="0" err="1"/>
              <a:t>terdeteksi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b="1" dirty="0" err="1"/>
              <a:t>mempelajari</a:t>
            </a:r>
            <a:r>
              <a:rPr lang="en-ID" b="1" dirty="0"/>
              <a:t> </a:t>
            </a:r>
            <a:r>
              <a:rPr lang="en-ID" b="1" dirty="0" err="1"/>
              <a:t>struktur</a:t>
            </a:r>
            <a:r>
              <a:rPr lang="en-ID" b="1" dirty="0"/>
              <a:t> internal </a:t>
            </a:r>
            <a:r>
              <a:rPr lang="en-ID" b="1" dirty="0" err="1"/>
              <a:t>objek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998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6F480-EC45-11CC-97FF-C4ABF399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241ACA-EAFD-696A-0309-04BF8E560645}"/>
              </a:ext>
            </a:extLst>
          </p:cNvPr>
          <p:cNvSpPr/>
          <p:nvPr/>
        </p:nvSpPr>
        <p:spPr>
          <a:xfrm>
            <a:off x="0" y="0"/>
            <a:ext cx="12192000" cy="90112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20C70-B8EA-22F8-D5C3-30FE0F8A2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70174"/>
            <a:ext cx="9144000" cy="743080"/>
          </a:xfrm>
        </p:spPr>
        <p:txBody>
          <a:bodyPr>
            <a:normAutofit/>
          </a:bodyPr>
          <a:lstStyle/>
          <a:p>
            <a:pPr algn="l"/>
            <a:r>
              <a:rPr lang="en-ID" sz="4000" dirty="0" err="1">
                <a:solidFill>
                  <a:schemeClr val="bg1"/>
                </a:solidFill>
              </a:rPr>
              <a:t>Prinsip</a:t>
            </a:r>
            <a:r>
              <a:rPr lang="en-ID" sz="4000" dirty="0">
                <a:solidFill>
                  <a:schemeClr val="bg1"/>
                </a:solidFill>
              </a:rPr>
              <a:t> Cosmic Ray Muon Tomography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8F1B7-D15D-8395-D6D3-B0500810F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699" y="1172625"/>
            <a:ext cx="10810602" cy="1521579"/>
          </a:xfrm>
        </p:spPr>
        <p:txBody>
          <a:bodyPr>
            <a:noAutofit/>
          </a:bodyPr>
          <a:lstStyle/>
          <a:p>
            <a:pPr lvl="0" algn="l"/>
            <a:r>
              <a:rPr lang="en-ID" sz="1800" dirty="0"/>
              <a:t>Muon </a:t>
            </a:r>
            <a:r>
              <a:rPr lang="en-ID" sz="1800" dirty="0" err="1"/>
              <a:t>kosmik</a:t>
            </a:r>
            <a:r>
              <a:rPr lang="en-ID" sz="1800" dirty="0"/>
              <a:t> </a:t>
            </a:r>
            <a:r>
              <a:rPr lang="en-ID" sz="1800" dirty="0" err="1"/>
              <a:t>dilewatkan</a:t>
            </a:r>
            <a:r>
              <a:rPr lang="en-ID" sz="1800" dirty="0"/>
              <a:t>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alami</a:t>
            </a:r>
            <a:r>
              <a:rPr lang="en-ID" sz="1800" dirty="0"/>
              <a:t>. </a:t>
            </a:r>
            <a:r>
              <a:rPr lang="en-ID" sz="1800" dirty="0" err="1"/>
              <a:t>Interaksinya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material </a:t>
            </a:r>
            <a:r>
              <a:rPr lang="en-ID" sz="1800" dirty="0" err="1"/>
              <a:t>diamati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detektor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memperoleh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mengenai</a:t>
            </a:r>
            <a:r>
              <a:rPr lang="en-ID" sz="1800" dirty="0"/>
              <a:t> </a:t>
            </a:r>
            <a:r>
              <a:rPr lang="en-ID" sz="1800" dirty="0" err="1"/>
              <a:t>bagian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membongkarnya</a:t>
            </a:r>
            <a:r>
              <a:rPr lang="en-ID" sz="1800" dirty="0"/>
              <a:t>.</a:t>
            </a:r>
            <a:endParaRPr lang="en-US" sz="1800" b="1" i="1" dirty="0"/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6EEE44AF-E514-BE13-A760-0C32017320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9007" y="60634"/>
            <a:ext cx="743080" cy="7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316E10-B376-C548-2C0C-252CDA219FC0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D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818E4E-7421-0B30-4DDB-ACFAF625473C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xploring the Potential of Muon Tomography in Archaeology and Mining  Exploration">
            <a:extLst>
              <a:ext uri="{FF2B5EF4-FFF2-40B4-BE49-F238E27FC236}">
                <a16:creationId xmlns:a16="http://schemas.microsoft.com/office/drawing/2014/main" id="{F3E553D8-6499-8A94-2B6B-E9C9542BC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451" y="1933414"/>
            <a:ext cx="5208556" cy="33033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E25CDC-9366-7C5D-899B-2D2CA81585A3}"/>
                  </a:ext>
                </a:extLst>
              </p:cNvPr>
              <p:cNvSpPr txBox="1"/>
              <p:nvPr/>
            </p:nvSpPr>
            <p:spPr>
              <a:xfrm>
                <a:off x="1144096" y="2179474"/>
                <a:ext cx="440188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D" b="1" dirty="0"/>
                  <a:t>Muon </a:t>
                </a:r>
                <a:r>
                  <a:rPr lang="en-ID" b="1" dirty="0" err="1"/>
                  <a:t>kosmik</a:t>
                </a:r>
                <a:r>
                  <a:rPr lang="en-ID" b="1" dirty="0"/>
                  <a:t> </a:t>
                </a:r>
                <a:r>
                  <a:rPr lang="en-ID" b="1" dirty="0" err="1"/>
                  <a:t>memasuki</a:t>
                </a:r>
                <a:r>
                  <a:rPr lang="en-ID" b="1" dirty="0"/>
                  <a:t> </a:t>
                </a:r>
                <a:r>
                  <a:rPr lang="en-ID" b="1" dirty="0" err="1"/>
                  <a:t>objek</a:t>
                </a:r>
                <a:endParaRPr lang="en-ID" b="1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D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br>
                  <a:rPr lang="en-ID" dirty="0"/>
                </a:br>
                <a:r>
                  <a:rPr lang="en-ID" b="1" dirty="0" err="1"/>
                  <a:t>Lintasan</a:t>
                </a:r>
                <a:r>
                  <a:rPr lang="en-ID" b="1" dirty="0"/>
                  <a:t> muon </a:t>
                </a:r>
                <a:r>
                  <a:rPr lang="en-ID" b="1" dirty="0" err="1"/>
                  <a:t>mengalami</a:t>
                </a:r>
                <a:r>
                  <a:rPr lang="en-ID" b="1" dirty="0"/>
                  <a:t> </a:t>
                </a:r>
                <a:r>
                  <a:rPr lang="en-ID" b="1" dirty="0" err="1"/>
                  <a:t>perubahan</a:t>
                </a:r>
                <a:endParaRPr lang="en-ID" b="1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br>
                  <a:rPr lang="en-ID" dirty="0"/>
                </a:br>
                <a:r>
                  <a:rPr lang="en-ID" b="1" dirty="0" err="1"/>
                  <a:t>Detektor</a:t>
                </a:r>
                <a:r>
                  <a:rPr lang="en-ID" b="1" dirty="0"/>
                  <a:t> </a:t>
                </a:r>
                <a:r>
                  <a:rPr lang="en-ID" b="1" dirty="0" err="1"/>
                  <a:t>merekam</a:t>
                </a:r>
                <a:r>
                  <a:rPr lang="en-ID" b="1" dirty="0"/>
                  <a:t> muon</a:t>
                </a:r>
                <a:br>
                  <a:rPr lang="en-ID" dirty="0"/>
                </a:br>
                <a14:m>
                  <m:oMathPara xmlns:m="http://schemas.openxmlformats.org/officeDocument/2006/math">
                    <m:oMath>
                      <m:r>
                        <a:rPr lang="en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ID" dirty="0"/>
              </a:p>
              <a:p>
                <a:pPr algn="ctr">
                  <a:buNone/>
                </a:pPr>
                <a:r>
                  <a:rPr lang="en-ID" b="1" dirty="0"/>
                  <a:t>Data </a:t>
                </a:r>
                <a:r>
                  <a:rPr lang="en-ID" b="1" dirty="0" err="1"/>
                  <a:t>dianalisis</a:t>
                </a:r>
                <a:br>
                  <a:rPr lang="en-ID" dirty="0"/>
                </a:br>
                <a14:m>
                  <m:oMathPara xmlns:m="http://schemas.openxmlformats.org/officeDocument/2006/math">
                    <m:oMath>
                      <m:r>
                        <a:rPr lang="en-ID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n-ID" dirty="0"/>
              </a:p>
              <a:p>
                <a:pPr algn="ctr">
                  <a:buNone/>
                </a:pPr>
                <a:r>
                  <a:rPr lang="en-ID" b="1" dirty="0" err="1"/>
                  <a:t>Struktur</a:t>
                </a:r>
                <a:r>
                  <a:rPr lang="en-ID" b="1" dirty="0"/>
                  <a:t> internal </a:t>
                </a:r>
                <a:r>
                  <a:rPr lang="en-ID" b="1" dirty="0" err="1"/>
                  <a:t>direkonstruksi</a:t>
                </a:r>
                <a:endParaRPr lang="en-ID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E25CDC-9366-7C5D-899B-2D2CA8158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096" y="2179474"/>
                <a:ext cx="4401882" cy="2585323"/>
              </a:xfrm>
              <a:prstGeom prst="rect">
                <a:avLst/>
              </a:prstGeom>
              <a:blipFill>
                <a:blip r:embed="rId4"/>
                <a:stretch>
                  <a:fillRect t="-1179" r="-1247" b="-30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115861C-D676-6D07-62F6-B700672DAB48}"/>
              </a:ext>
            </a:extLst>
          </p:cNvPr>
          <p:cNvSpPr txBox="1"/>
          <p:nvPr/>
        </p:nvSpPr>
        <p:spPr>
          <a:xfrm>
            <a:off x="690699" y="5546621"/>
            <a:ext cx="10578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parameter </a:t>
            </a:r>
            <a:r>
              <a:rPr lang="en-ID" b="1" dirty="0" err="1"/>
              <a:t>utamanya</a:t>
            </a:r>
            <a:r>
              <a:rPr lang="en-ID" b="1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scattering density dan </a:t>
            </a:r>
            <a:r>
              <a:rPr lang="en-ID" b="1" dirty="0" err="1"/>
              <a:t>jumlah</a:t>
            </a:r>
            <a:r>
              <a:rPr lang="en-ID" b="1" dirty="0"/>
              <a:t> muon</a:t>
            </a:r>
            <a:r>
              <a:rPr lang="en-ID" dirty="0"/>
              <a:t> yang </a:t>
            </a:r>
            <a:r>
              <a:rPr lang="en-ID" dirty="0" err="1"/>
              <a:t>berhenti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pengukuran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muon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6BC04-B389-8697-1C8A-78BCC5F20737}"/>
              </a:ext>
            </a:extLst>
          </p:cNvPr>
          <p:cNvSpPr txBox="1"/>
          <p:nvPr/>
        </p:nvSpPr>
        <p:spPr>
          <a:xfrm>
            <a:off x="7260673" y="5236726"/>
            <a:ext cx="28081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00000"/>
                </a:solidFill>
                <a:latin typeface="Aptos"/>
              </a:rPr>
              <a:t>Gambar 1. </a:t>
            </a:r>
            <a:r>
              <a:rPr lang="en-US" sz="1200" i="0" u="none" strike="noStrike" baseline="0" dirty="0" err="1">
                <a:solidFill>
                  <a:srgbClr val="000000"/>
                </a:solidFill>
                <a:latin typeface="Aptos"/>
              </a:rPr>
              <a:t>Ilustrasi</a:t>
            </a:r>
            <a:r>
              <a:rPr lang="en-US" sz="1200" i="0" u="none" strike="noStrike" baseline="0" dirty="0">
                <a:solidFill>
                  <a:srgbClr val="000000"/>
                </a:solidFill>
                <a:latin typeface="Aptos"/>
              </a:rPr>
              <a:t> Moun Tomography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4988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5517-D4FE-8878-6319-9B5BEB2F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B401F6-E73F-B6BF-E668-FAC98FD0C375}"/>
              </a:ext>
            </a:extLst>
          </p:cNvPr>
          <p:cNvSpPr/>
          <p:nvPr/>
        </p:nvSpPr>
        <p:spPr>
          <a:xfrm>
            <a:off x="0" y="0"/>
            <a:ext cx="12192000" cy="90112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56623-4B9C-99D1-F331-EA538B714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60634"/>
            <a:ext cx="10076450" cy="743080"/>
          </a:xfrm>
        </p:spPr>
        <p:txBody>
          <a:bodyPr>
            <a:normAutofit fontScale="90000"/>
          </a:bodyPr>
          <a:lstStyle/>
          <a:p>
            <a:pPr algn="l"/>
            <a:r>
              <a:rPr lang="en-ID" sz="4000" dirty="0">
                <a:solidFill>
                  <a:schemeClr val="bg1"/>
                </a:solidFill>
              </a:rPr>
              <a:t>Dua Metode </a:t>
            </a:r>
            <a:r>
              <a:rPr lang="en-ID" sz="4000" dirty="0" err="1">
                <a:solidFill>
                  <a:schemeClr val="bg1"/>
                </a:solidFill>
              </a:rPr>
              <a:t>Informasi</a:t>
            </a:r>
            <a:r>
              <a:rPr lang="en-ID" sz="4000" dirty="0">
                <a:solidFill>
                  <a:schemeClr val="bg1"/>
                </a:solidFill>
              </a:rPr>
              <a:t>: Scattering dan Absorption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E09605B-052E-7832-7318-C95930D2EF0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8196" y="1206850"/>
                <a:ext cx="5308460" cy="4590632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D" sz="1800" b="1" dirty="0"/>
                  <a:t>1. Scattering Method — Hamburan Muon</a:t>
                </a:r>
              </a:p>
              <a:p>
                <a:pPr algn="just"/>
                <a:r>
                  <a:rPr lang="en-ID" sz="1800" dirty="0"/>
                  <a:t>Metode </a:t>
                </a:r>
                <a:r>
                  <a:rPr lang="en-ID" sz="1800" dirty="0" err="1"/>
                  <a:t>ini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memanfaatkan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perubahan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arah</a:t>
                </a:r>
                <a:r>
                  <a:rPr lang="en-ID" sz="1800" dirty="0"/>
                  <a:t> </a:t>
                </a:r>
                <a:r>
                  <a:rPr lang="en-ID" sz="1800" dirty="0" err="1"/>
                  <a:t>lintasan</a:t>
                </a:r>
                <a:r>
                  <a:rPr lang="en-ID" sz="1800" dirty="0"/>
                  <a:t> muon </a:t>
                </a:r>
                <a:r>
                  <a:rPr lang="en-ID" sz="1800" dirty="0" err="1"/>
                  <a:t>ketika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berinteraksi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dengan</a:t>
                </a:r>
                <a:r>
                  <a:rPr lang="en-ID" sz="1800" dirty="0"/>
                  <a:t> material.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D" sz="1800" dirty="0"/>
                  <a:t>Muon </a:t>
                </a:r>
                <a:r>
                  <a:rPr lang="en-ID" sz="1800" dirty="0" err="1"/>
                  <a:t>mengalami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hamburan</a:t>
                </a:r>
                <a:r>
                  <a:rPr lang="en-ID" sz="1800" dirty="0"/>
                  <a:t> Coulomb </a:t>
                </a:r>
                <a:r>
                  <a:rPr lang="en-ID" sz="1800" dirty="0" err="1"/>
                  <a:t>saat</a:t>
                </a:r>
                <a:r>
                  <a:rPr lang="en-ID" sz="1800" dirty="0"/>
                  <a:t> </a:t>
                </a:r>
                <a:r>
                  <a:rPr lang="en-ID" sz="1800" dirty="0" err="1"/>
                  <a:t>melewati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materi</a:t>
                </a:r>
                <a:r>
                  <a:rPr lang="en-ID" sz="1800" dirty="0"/>
                  <a:t>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D" sz="1800" dirty="0" err="1"/>
                  <a:t>Besarnya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hamburan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dipengaruhi</a:t>
                </a:r>
                <a:r>
                  <a:rPr lang="en-ID" sz="1800" dirty="0"/>
                  <a:t> oleh momentum muon, </a:t>
                </a:r>
                <a:r>
                  <a:rPr lang="en-ID" sz="1800" dirty="0" err="1"/>
                  <a:t>ketebalan</a:t>
                </a:r>
                <a:r>
                  <a:rPr lang="en-ID" sz="1800" dirty="0"/>
                  <a:t> material, dan </a:t>
                </a:r>
                <a:r>
                  <a:rPr lang="en-ID" sz="1800" dirty="0" err="1"/>
                  <a:t>karakteristik</a:t>
                </a:r>
                <a:r>
                  <a:rPr lang="en-ID" sz="1800" dirty="0"/>
                  <a:t> material( </a:t>
                </a:r>
                <a:r>
                  <a:rPr lang="en-ID" sz="1800" dirty="0" err="1"/>
                  <a:t>nomor</a:t>
                </a:r>
                <a:r>
                  <a:rPr lang="en-ID" sz="1800" dirty="0"/>
                  <a:t> atom, </a:t>
                </a:r>
                <a:r>
                  <a:rPr lang="en-ID" sz="1800" dirty="0" err="1"/>
                  <a:t>massa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jenis</a:t>
                </a:r>
                <a:r>
                  <a:rPr lang="en-ID" sz="1800" dirty="0"/>
                  <a:t>).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D" sz="1800" dirty="0"/>
                  <a:t>Material yang </a:t>
                </a:r>
                <a:r>
                  <a:rPr lang="en-ID" sz="1800" dirty="0" err="1"/>
                  <a:t>berbeda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dapat</a:t>
                </a:r>
                <a:r>
                  <a:rPr lang="en-ID" sz="1800" dirty="0"/>
                  <a:t> </a:t>
                </a:r>
                <a:r>
                  <a:rPr lang="en-ID" sz="1800" dirty="0" err="1"/>
                  <a:t>menghasilkan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distribusi</a:t>
                </a:r>
                <a:r>
                  <a:rPr lang="en-ID" sz="1800" dirty="0"/>
                  <a:t> </a:t>
                </a:r>
                <a:r>
                  <a:rPr lang="en-ID" sz="1800" dirty="0" err="1"/>
                  <a:t>sudut</a:t>
                </a:r>
                <a:r>
                  <a:rPr lang="en-ID" sz="1800" dirty="0"/>
                  <a:t> </a:t>
                </a:r>
                <a:r>
                  <a:rPr lang="en-ID" sz="1800" dirty="0" err="1"/>
                  <a:t>hamburan</a:t>
                </a:r>
                <a:r>
                  <a:rPr lang="en-ID" sz="1800" dirty="0"/>
                  <a:t> yang </a:t>
                </a:r>
                <a:r>
                  <a:rPr lang="en-ID" sz="1800" dirty="0" err="1"/>
                  <a:t>berbeda</a:t>
                </a:r>
                <a:r>
                  <a:rPr lang="en-ID" sz="1800" dirty="0"/>
                  <a:t>.</a:t>
                </a:r>
              </a:p>
              <a:p>
                <a:pPr algn="just"/>
                <a:r>
                  <a:rPr lang="en-ID" sz="1800" dirty="0" err="1"/>
                  <a:t>Secara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pendekatan</a:t>
                </a:r>
                <a:r>
                  <a:rPr lang="en-ID" sz="1800" dirty="0"/>
                  <a:t>, </a:t>
                </a:r>
                <a:r>
                  <a:rPr lang="en-ID" sz="1800" dirty="0" err="1"/>
                  <a:t>simpangan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sudut</a:t>
                </a:r>
                <a:r>
                  <a:rPr lang="en-ID" sz="1800" dirty="0"/>
                  <a:t> </a:t>
                </a:r>
                <a:r>
                  <a:rPr lang="en-ID" sz="1800" dirty="0" err="1"/>
                  <a:t>hamburan</a:t>
                </a:r>
                <a:r>
                  <a:rPr lang="en-ID" sz="1800" dirty="0"/>
                  <a:t> </a:t>
                </a:r>
                <a:r>
                  <a:rPr lang="en-ID" sz="1800" dirty="0" err="1"/>
                  <a:t>berbanding</a:t>
                </a:r>
                <a:r>
                  <a:rPr lang="en-ID" sz="1800" dirty="0"/>
                  <a:t> </a:t>
                </a:r>
                <a:r>
                  <a:rPr lang="en-ID" sz="1800" dirty="0" err="1"/>
                  <a:t>terbalik</a:t>
                </a:r>
                <a:r>
                  <a:rPr lang="en-ID" sz="1800" dirty="0"/>
                  <a:t> </a:t>
                </a:r>
                <a:r>
                  <a:rPr lang="en-ID" sz="1800" dirty="0" err="1"/>
                  <a:t>dengan</a:t>
                </a:r>
                <a:r>
                  <a:rPr lang="en-ID" sz="1800" dirty="0"/>
                  <a:t> momentum muon: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D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D" sz="1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D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D" sz="1800" b="0" i="1" smtClean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ID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D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ID" sz="1800" dirty="0"/>
              </a:p>
              <a:p>
                <a:pPr algn="just"/>
                <a:r>
                  <a:rPr lang="en-ID" sz="1800" dirty="0" err="1"/>
                  <a:t>Untuk</a:t>
                </a:r>
                <a:r>
                  <a:rPr lang="en-ID" sz="1800" dirty="0"/>
                  <a:t> material dan </a:t>
                </a:r>
                <a:r>
                  <a:rPr lang="en-ID" sz="1800" dirty="0" err="1"/>
                  <a:t>kondisi</a:t>
                </a:r>
                <a:r>
                  <a:rPr lang="en-ID" sz="1800" dirty="0"/>
                  <a:t> yang </a:t>
                </a:r>
                <a:r>
                  <a:rPr lang="en-ID" sz="1800" dirty="0" err="1"/>
                  <a:t>sesuai</a:t>
                </a:r>
                <a:r>
                  <a:rPr lang="en-ID" sz="1800" dirty="0"/>
                  <a:t>, </a:t>
                </a:r>
                <a:r>
                  <a:rPr lang="en-ID" sz="1800" dirty="0" err="1"/>
                  <a:t>hamburan</a:t>
                </a:r>
                <a:r>
                  <a:rPr lang="en-ID" sz="1800" dirty="0"/>
                  <a:t> juga </a:t>
                </a:r>
                <a:r>
                  <a:rPr lang="en-ID" sz="1800" dirty="0" err="1"/>
                  <a:t>cenderung</a:t>
                </a:r>
                <a:r>
                  <a:rPr lang="en-ID" sz="1800" dirty="0"/>
                  <a:t> </a:t>
                </a:r>
                <a:r>
                  <a:rPr lang="en-ID" sz="1800" dirty="0" err="1"/>
                  <a:t>meningkat</a:t>
                </a:r>
                <a:r>
                  <a:rPr lang="en-ID" sz="1800" dirty="0"/>
                  <a:t> </a:t>
                </a:r>
                <a:r>
                  <a:rPr lang="en-ID" sz="1800" dirty="0" err="1"/>
                  <a:t>ketika</a:t>
                </a:r>
                <a:r>
                  <a:rPr lang="en-ID" sz="1800" dirty="0"/>
                  <a:t> </a:t>
                </a:r>
                <a:r>
                  <a:rPr lang="en-ID" sz="1800" dirty="0" err="1"/>
                  <a:t>ketebalan</a:t>
                </a:r>
                <a:r>
                  <a:rPr lang="en-ID" sz="1800" dirty="0"/>
                  <a:t> material </a:t>
                </a:r>
                <a:r>
                  <a:rPr lang="en-ID" sz="1800" dirty="0" err="1"/>
                  <a:t>bertambah</a:t>
                </a:r>
                <a:r>
                  <a:rPr lang="en-ID" sz="1800" dirty="0"/>
                  <a:t>.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E09605B-052E-7832-7318-C95930D2EF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8196" y="1206850"/>
                <a:ext cx="5308460" cy="4590632"/>
              </a:xfrm>
              <a:blipFill>
                <a:blip r:embed="rId2"/>
                <a:stretch>
                  <a:fillRect l="-918" t="-1328" r="-1033" b="-1248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88D8E35A-678E-C12F-3A6F-DCA4CE8550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9007" y="60634"/>
            <a:ext cx="743080" cy="7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EA249E-E12D-00E2-859B-96F28EA5C0C3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C2AE3A-C774-454E-4E2A-EC91F3F45546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50D00F0B-5619-0D6C-F3E6-EFA2E3DC6D46}"/>
              </a:ext>
            </a:extLst>
          </p:cNvPr>
          <p:cNvSpPr txBox="1">
            <a:spLocks/>
          </p:cNvSpPr>
          <p:nvPr/>
        </p:nvSpPr>
        <p:spPr>
          <a:xfrm>
            <a:off x="5957740" y="1206850"/>
            <a:ext cx="5814366" cy="4590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D" sz="1800" b="1" dirty="0"/>
              <a:t>2. Absorption Method — </a:t>
            </a:r>
            <a:r>
              <a:rPr lang="en-ID" sz="1800" b="1" dirty="0" err="1"/>
              <a:t>Atenuasi</a:t>
            </a:r>
            <a:r>
              <a:rPr lang="en-ID" sz="1800" b="1" dirty="0"/>
              <a:t> dan Muon yang </a:t>
            </a:r>
            <a:r>
              <a:rPr lang="en-ID" sz="1800" b="1" dirty="0" err="1"/>
              <a:t>Berhenti</a:t>
            </a:r>
            <a:endParaRPr lang="en-ID" sz="1800" b="1" dirty="0"/>
          </a:p>
          <a:p>
            <a:pPr algn="just"/>
            <a:r>
              <a:rPr lang="en-ID" sz="1800" dirty="0"/>
              <a:t>Metode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memanfaatkan</a:t>
            </a:r>
            <a:r>
              <a:rPr lang="en-ID" sz="1800" dirty="0"/>
              <a:t> </a:t>
            </a:r>
            <a:r>
              <a:rPr lang="en-ID" sz="1800" dirty="0" err="1"/>
              <a:t>perubahan</a:t>
            </a:r>
            <a:r>
              <a:rPr lang="en-ID" sz="1800" dirty="0"/>
              <a:t> </a:t>
            </a:r>
            <a:r>
              <a:rPr lang="en-ID" sz="1800" dirty="0" err="1"/>
              <a:t>jumlah</a:t>
            </a:r>
            <a:r>
              <a:rPr lang="en-ID" sz="1800" dirty="0"/>
              <a:t> muon yang </a:t>
            </a:r>
            <a:r>
              <a:rPr lang="en-ID" sz="1800" dirty="0" err="1"/>
              <a:t>berhasil</a:t>
            </a:r>
            <a:r>
              <a:rPr lang="en-ID" sz="1800" dirty="0"/>
              <a:t> </a:t>
            </a:r>
            <a:r>
              <a:rPr lang="en-ID" sz="1800" dirty="0" err="1"/>
              <a:t>melewati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D" sz="1800" dirty="0"/>
              <a:t>Muon </a:t>
            </a:r>
            <a:r>
              <a:rPr lang="en-ID" sz="1800" dirty="0" err="1"/>
              <a:t>kehilangan</a:t>
            </a:r>
            <a:r>
              <a:rPr lang="en-ID" sz="1800" dirty="0"/>
              <a:t> </a:t>
            </a:r>
            <a:r>
              <a:rPr lang="en-ID" sz="1800" dirty="0" err="1"/>
              <a:t>energi</a:t>
            </a:r>
            <a:r>
              <a:rPr lang="en-ID" sz="1800" dirty="0"/>
              <a:t> </a:t>
            </a:r>
            <a:r>
              <a:rPr lang="en-ID" sz="1800" dirty="0" err="1"/>
              <a:t>ketika</a:t>
            </a:r>
            <a:r>
              <a:rPr lang="en-ID" sz="1800" dirty="0"/>
              <a:t> </a:t>
            </a:r>
            <a:r>
              <a:rPr lang="en-ID" sz="1800" dirty="0" err="1"/>
              <a:t>berinteraksi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material.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D" sz="1800" dirty="0"/>
              <a:t>Muon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energi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cukup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berhenti</a:t>
            </a:r>
            <a:r>
              <a:rPr lang="en-ID" sz="1800" dirty="0"/>
              <a:t> </a:t>
            </a:r>
            <a:r>
              <a:rPr lang="en-ID" sz="1800" dirty="0" err="1"/>
              <a:t>sebelum</a:t>
            </a:r>
            <a:r>
              <a:rPr lang="en-ID" sz="1800" dirty="0"/>
              <a:t> </a:t>
            </a:r>
            <a:r>
              <a:rPr lang="en-ID" sz="1800" dirty="0" err="1"/>
              <a:t>mencapai</a:t>
            </a:r>
            <a:r>
              <a:rPr lang="en-ID" sz="1800" dirty="0"/>
              <a:t> </a:t>
            </a:r>
            <a:r>
              <a:rPr lang="en-ID" sz="1800" dirty="0" err="1"/>
              <a:t>detektor</a:t>
            </a:r>
            <a:r>
              <a:rPr lang="en-ID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D" sz="1800" dirty="0" err="1"/>
              <a:t>Jumlah</a:t>
            </a:r>
            <a:r>
              <a:rPr lang="en-ID" sz="1800" dirty="0"/>
              <a:t> muon yang </a:t>
            </a:r>
            <a:r>
              <a:rPr lang="en-ID" sz="1800" dirty="0" err="1"/>
              <a:t>terdeteksi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dibandingkan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prediksi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kondisi</a:t>
            </a:r>
            <a:r>
              <a:rPr lang="en-ID" sz="1800" dirty="0"/>
              <a:t> </a:t>
            </a:r>
            <a:r>
              <a:rPr lang="en-ID" sz="1800" dirty="0" err="1"/>
              <a:t>referensi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mempelajari</a:t>
            </a:r>
            <a:r>
              <a:rPr lang="en-ID" sz="1800" dirty="0"/>
              <a:t> </a:t>
            </a:r>
            <a:r>
              <a:rPr lang="en-ID" sz="1800" dirty="0" err="1"/>
              <a:t>transmisi</a:t>
            </a:r>
            <a:r>
              <a:rPr lang="en-ID" sz="1800" dirty="0"/>
              <a:t> </a:t>
            </a:r>
            <a:r>
              <a:rPr lang="en-ID" sz="1800" dirty="0" err="1"/>
              <a:t>melalui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.</a:t>
            </a:r>
          </a:p>
          <a:p>
            <a:pPr algn="just"/>
            <a:r>
              <a:rPr lang="en-ID" sz="1800" b="1" dirty="0" err="1"/>
              <a:t>Informasi</a:t>
            </a:r>
            <a:r>
              <a:rPr lang="en-ID" sz="1800" b="1" dirty="0"/>
              <a:t> yang </a:t>
            </a:r>
            <a:r>
              <a:rPr lang="en-ID" sz="1800" b="1" dirty="0" err="1"/>
              <a:t>diperoleh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tentang</a:t>
            </a:r>
            <a:r>
              <a:rPr lang="en-ID" sz="1800" dirty="0"/>
              <a:t> </a:t>
            </a:r>
            <a:r>
              <a:rPr lang="en-ID" sz="1800" dirty="0" err="1"/>
              <a:t>kemampuan</a:t>
            </a:r>
            <a:r>
              <a:rPr lang="en-ID" sz="1800" dirty="0"/>
              <a:t> material </a:t>
            </a:r>
            <a:r>
              <a:rPr lang="en-ID" sz="1800" dirty="0" err="1"/>
              <a:t>meneruskan</a:t>
            </a:r>
            <a:r>
              <a:rPr lang="en-ID" sz="1800" dirty="0"/>
              <a:t> muon, yang </a:t>
            </a:r>
            <a:r>
              <a:rPr lang="en-ID" sz="1800" dirty="0" err="1"/>
              <a:t>dipengaruhi</a:t>
            </a:r>
            <a:r>
              <a:rPr lang="en-ID" sz="1800" dirty="0"/>
              <a:t> oleh </a:t>
            </a:r>
            <a:r>
              <a:rPr lang="en-ID" sz="1800" dirty="0" err="1"/>
              <a:t>ketebalan</a:t>
            </a:r>
            <a:r>
              <a:rPr lang="en-ID" sz="1800" dirty="0"/>
              <a:t>, </a:t>
            </a:r>
            <a:r>
              <a:rPr lang="en-ID" sz="1800" dirty="0" err="1"/>
              <a:t>sifat</a:t>
            </a:r>
            <a:r>
              <a:rPr lang="en-ID" sz="1800" dirty="0"/>
              <a:t> material, dan </a:t>
            </a:r>
            <a:r>
              <a:rPr lang="en-ID" sz="1800" dirty="0" err="1"/>
              <a:t>energi</a:t>
            </a:r>
            <a:r>
              <a:rPr lang="en-ID" sz="1800" dirty="0"/>
              <a:t> muon.</a:t>
            </a:r>
          </a:p>
        </p:txBody>
      </p:sp>
    </p:spTree>
    <p:extLst>
      <p:ext uri="{BB962C8B-B14F-4D97-AF65-F5344CB8AC3E}">
        <p14:creationId xmlns:p14="http://schemas.microsoft.com/office/powerpoint/2010/main" val="103774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650C-D3B4-5B91-8753-9AE3D7673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BBAD0C-B836-2C88-FA0D-746C33AE646E}"/>
              </a:ext>
            </a:extLst>
          </p:cNvPr>
          <p:cNvSpPr/>
          <p:nvPr/>
        </p:nvSpPr>
        <p:spPr>
          <a:xfrm>
            <a:off x="0" y="0"/>
            <a:ext cx="12192000" cy="90112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D18E7-096F-56EB-C75F-FB9FBA315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60634"/>
            <a:ext cx="10076450" cy="743080"/>
          </a:xfrm>
        </p:spPr>
        <p:txBody>
          <a:bodyPr>
            <a:normAutofit/>
          </a:bodyPr>
          <a:lstStyle/>
          <a:p>
            <a:pPr algn="l"/>
            <a:r>
              <a:rPr lang="en-ID" sz="4000" dirty="0">
                <a:solidFill>
                  <a:schemeClr val="bg1"/>
                </a:solidFill>
              </a:rPr>
              <a:t>Material </a:t>
            </a:r>
            <a:r>
              <a:rPr lang="en-ID" sz="4000" dirty="0" err="1">
                <a:solidFill>
                  <a:schemeClr val="bg1"/>
                </a:solidFill>
              </a:rPr>
              <a:t>Dengan</a:t>
            </a:r>
            <a:r>
              <a:rPr lang="en-ID" sz="4000" dirty="0">
                <a:solidFill>
                  <a:schemeClr val="bg1"/>
                </a:solidFill>
              </a:rPr>
              <a:t> </a:t>
            </a:r>
            <a:r>
              <a:rPr lang="en-ID" sz="4000" dirty="0" err="1">
                <a:solidFill>
                  <a:schemeClr val="bg1"/>
                </a:solidFill>
              </a:rPr>
              <a:t>Respon</a:t>
            </a:r>
            <a:r>
              <a:rPr lang="en-ID" sz="4000" dirty="0">
                <a:solidFill>
                  <a:schemeClr val="bg1"/>
                </a:solidFill>
              </a:rPr>
              <a:t> Yang Sama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DFF0B-FFA7-E618-5156-E66CA0E9A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99" y="4769157"/>
            <a:ext cx="11202770" cy="1449463"/>
          </a:xfrm>
        </p:spPr>
        <p:txBody>
          <a:bodyPr>
            <a:noAutofit/>
          </a:bodyPr>
          <a:lstStyle/>
          <a:p>
            <a:pPr algn="l"/>
            <a:r>
              <a:rPr lang="en-ID" sz="1800" b="1" dirty="0" err="1">
                <a:sym typeface="Wingdings" panose="05000000000000000000" pitchFamily="2" charset="2"/>
              </a:rPr>
              <a:t>Namun</a:t>
            </a:r>
            <a:r>
              <a:rPr lang="en-ID" sz="1800" b="1" dirty="0">
                <a:sym typeface="Wingdings" panose="05000000000000000000" pitchFamily="2" charset="2"/>
              </a:rPr>
              <a:t>  </a:t>
            </a:r>
            <a:r>
              <a:rPr lang="en-ID" sz="1800" b="1" dirty="0"/>
              <a:t>Scattering + Absorption</a:t>
            </a:r>
            <a:endParaRPr lang="en-ID" sz="1800" dirty="0"/>
          </a:p>
          <a:p>
            <a:pPr lvl="0" algn="l"/>
            <a:r>
              <a:rPr lang="en-ID" sz="1800" dirty="0"/>
              <a:t>Scattering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perubahan</a:t>
            </a:r>
            <a:r>
              <a:rPr lang="en-ID" sz="1800" dirty="0"/>
              <a:t> </a:t>
            </a:r>
            <a:r>
              <a:rPr lang="en-ID" sz="1800" dirty="0" err="1"/>
              <a:t>lintasan</a:t>
            </a:r>
            <a:r>
              <a:rPr lang="en-ID" sz="1800" dirty="0"/>
              <a:t> muon.</a:t>
            </a:r>
          </a:p>
          <a:p>
            <a:pPr lvl="0" algn="l"/>
            <a:r>
              <a:rPr lang="en-ID" sz="1800" dirty="0"/>
              <a:t>Absorption/</a:t>
            </a:r>
            <a:r>
              <a:rPr lang="en-ID" sz="1800" dirty="0" err="1"/>
              <a:t>transmisi</a:t>
            </a:r>
            <a:r>
              <a:rPr lang="en-ID" sz="1800" dirty="0"/>
              <a:t>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tambahan</a:t>
            </a:r>
            <a:r>
              <a:rPr lang="en-ID" sz="1800" dirty="0"/>
              <a:t>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jumlah</a:t>
            </a:r>
            <a:r>
              <a:rPr lang="en-ID" sz="1800" dirty="0"/>
              <a:t> muon yang </a:t>
            </a:r>
            <a:r>
              <a:rPr lang="en-ID" sz="1800" dirty="0" err="1"/>
              <a:t>berhasil</a:t>
            </a:r>
            <a:r>
              <a:rPr lang="en-ID" sz="1800" dirty="0"/>
              <a:t> </a:t>
            </a:r>
            <a:r>
              <a:rPr lang="en-ID" sz="1800" dirty="0" err="1"/>
              <a:t>melewati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.</a:t>
            </a:r>
          </a:p>
          <a:p>
            <a:pPr lvl="0" algn="l"/>
            <a:r>
              <a:rPr lang="en-ID" sz="1800" dirty="0" err="1"/>
              <a:t>Penggabungan</a:t>
            </a:r>
            <a:r>
              <a:rPr lang="en-ID" sz="1800" dirty="0"/>
              <a:t> </a:t>
            </a:r>
            <a:r>
              <a:rPr lang="en-ID" sz="1800" dirty="0" err="1"/>
              <a:t>kedua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berpotensi</a:t>
            </a:r>
            <a:r>
              <a:rPr lang="en-ID" sz="1800" dirty="0"/>
              <a:t> </a:t>
            </a:r>
            <a:r>
              <a:rPr lang="en-ID" sz="1800" dirty="0" err="1"/>
              <a:t>meningkatkan</a:t>
            </a:r>
            <a:r>
              <a:rPr lang="en-ID" sz="1800" dirty="0"/>
              <a:t> </a:t>
            </a:r>
            <a:r>
              <a:rPr lang="en-ID" sz="1800" dirty="0" err="1"/>
              <a:t>kemampuan</a:t>
            </a:r>
            <a:r>
              <a:rPr lang="en-ID" sz="1800" dirty="0"/>
              <a:t> </a:t>
            </a:r>
            <a:r>
              <a:rPr lang="en-ID" sz="1800" dirty="0" err="1"/>
              <a:t>membedakan</a:t>
            </a:r>
            <a:r>
              <a:rPr lang="en-ID" sz="1800" dirty="0"/>
              <a:t> material.</a:t>
            </a: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D8EB017F-F611-2513-899D-3F7B049333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9007" y="60634"/>
            <a:ext cx="743080" cy="74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51C55D-5AFE-8198-A0B1-651835FF9BB4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D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6A1761-569E-1E67-5D3B-A372285B65A6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F02A6F9-7E47-0AC5-A076-67F44BB21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394" y="1162980"/>
            <a:ext cx="5959560" cy="35935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3DA636-701C-90B3-85A0-FBAE63100780}"/>
              </a:ext>
            </a:extLst>
          </p:cNvPr>
          <p:cNvSpPr txBox="1"/>
          <p:nvPr/>
        </p:nvSpPr>
        <p:spPr>
          <a:xfrm>
            <a:off x="419493" y="1467209"/>
            <a:ext cx="45861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sz="1800" b="1" dirty="0" err="1"/>
              <a:t>Bagaimana</a:t>
            </a:r>
            <a:r>
              <a:rPr lang="en-ID" sz="1800" b="1" dirty="0"/>
              <a:t> </a:t>
            </a:r>
            <a:r>
              <a:rPr lang="en-ID" sz="1800" b="1" dirty="0" err="1"/>
              <a:t>jika</a:t>
            </a:r>
            <a:r>
              <a:rPr lang="en-ID" sz="1800" b="1" dirty="0"/>
              <a:t> 2 material </a:t>
            </a:r>
            <a:r>
              <a:rPr lang="en-ID" sz="1800" b="1" dirty="0" err="1"/>
              <a:t>berbeda</a:t>
            </a:r>
            <a:r>
              <a:rPr lang="en-ID" sz="1800" b="1" dirty="0"/>
              <a:t> </a:t>
            </a:r>
            <a:r>
              <a:rPr lang="en-ID" sz="1800" b="1" dirty="0" err="1"/>
              <a:t>memiliki</a:t>
            </a:r>
            <a:r>
              <a:rPr lang="en-ID" sz="1800" b="1" dirty="0"/>
              <a:t> </a:t>
            </a:r>
            <a:r>
              <a:rPr lang="en-ID" sz="1800" b="1" dirty="0" err="1"/>
              <a:t>nilai</a:t>
            </a:r>
            <a:r>
              <a:rPr lang="en-ID" sz="1800" b="1" dirty="0"/>
              <a:t> </a:t>
            </a:r>
            <a:r>
              <a:rPr lang="en-ID" sz="1800" b="1" i="1" dirty="0"/>
              <a:t>scattering density</a:t>
            </a:r>
            <a:r>
              <a:rPr lang="en-ID" sz="1800" b="1" dirty="0"/>
              <a:t> </a:t>
            </a:r>
            <a:r>
              <a:rPr lang="en-ID" sz="1800" b="1" dirty="0" err="1"/>
              <a:t>hasil</a:t>
            </a:r>
            <a:r>
              <a:rPr lang="en-ID" sz="1800" b="1" dirty="0"/>
              <a:t> </a:t>
            </a:r>
            <a:r>
              <a:rPr lang="en-ID" sz="1800" b="1" dirty="0" err="1"/>
              <a:t>rekonstruksi</a:t>
            </a:r>
            <a:r>
              <a:rPr lang="en-ID" sz="1800" b="1" dirty="0"/>
              <a:t> </a:t>
            </a:r>
            <a:r>
              <a:rPr lang="en-ID" sz="1800" b="1" dirty="0" err="1"/>
              <a:t>relatif</a:t>
            </a:r>
            <a:r>
              <a:rPr lang="en-ID" sz="1800" b="1" dirty="0"/>
              <a:t> </a:t>
            </a:r>
            <a:r>
              <a:rPr lang="en-ID" sz="1800" b="1" dirty="0" err="1"/>
              <a:t>berdekatan</a:t>
            </a:r>
            <a:r>
              <a:rPr lang="en-ID" sz="1800" b="1" dirty="0"/>
              <a:t>?</a:t>
            </a:r>
          </a:p>
          <a:p>
            <a:pPr algn="l"/>
            <a:endParaRPr lang="en-ID" sz="1800" b="1" dirty="0"/>
          </a:p>
          <a:p>
            <a:pPr algn="l"/>
            <a:r>
              <a:rPr lang="en-ID" sz="1800" dirty="0" err="1"/>
              <a:t>Contoh</a:t>
            </a:r>
            <a:r>
              <a:rPr lang="en-ID" sz="1800" dirty="0"/>
              <a:t> pada material tungsten (W) dan Timbal (Pb)</a:t>
            </a:r>
          </a:p>
          <a:p>
            <a:pPr lvl="0" algn="l"/>
            <a:r>
              <a:rPr lang="en-ID" sz="1800" dirty="0" err="1"/>
              <a:t>Kedua</a:t>
            </a:r>
            <a:r>
              <a:rPr lang="en-ID" sz="1800" dirty="0"/>
              <a:t> material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b="1" dirty="0" err="1"/>
              <a:t>sulit</a:t>
            </a:r>
            <a:r>
              <a:rPr lang="en-ID" sz="1800" b="1" dirty="0"/>
              <a:t> </a:t>
            </a:r>
            <a:r>
              <a:rPr lang="en-ID" sz="1800" b="1" dirty="0" err="1"/>
              <a:t>dibedakan</a:t>
            </a:r>
            <a:r>
              <a:rPr lang="en-ID" sz="1800" b="1" dirty="0"/>
              <a:t> </a:t>
            </a:r>
            <a:r>
              <a:rPr lang="en-ID" sz="1800" dirty="0" err="1"/>
              <a:t>jika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mengandalkan</a:t>
            </a:r>
            <a:r>
              <a:rPr lang="en-ID" sz="1800" dirty="0"/>
              <a:t> parameter scattering.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E1173-3E6F-B46D-DDDE-82DA64E6EDF2}"/>
              </a:ext>
            </a:extLst>
          </p:cNvPr>
          <p:cNvSpPr txBox="1"/>
          <p:nvPr/>
        </p:nvSpPr>
        <p:spPr>
          <a:xfrm>
            <a:off x="392761" y="6403340"/>
            <a:ext cx="10876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/>
              <a:t>[1] Checchia, P., et al. (2018). </a:t>
            </a:r>
            <a:r>
              <a:rPr lang="en-ID" sz="1200" i="1" dirty="0"/>
              <a:t>INFN muon tomography demonstrator: past and recent results with an eye to near-future activities</a:t>
            </a:r>
            <a:r>
              <a:rPr lang="en-ID" sz="1200" dirty="0"/>
              <a:t>. </a:t>
            </a:r>
            <a:r>
              <a:rPr lang="en-ID" sz="1200" i="1" dirty="0"/>
              <a:t>Philosophical Transactions of the Royal Society A</a:t>
            </a:r>
            <a:r>
              <a:rPr lang="en-ID" sz="1200" dirty="0"/>
              <a:t>, 377, 20180065.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CEC153-97CC-4A4A-059A-A46EB08022DD}"/>
              </a:ext>
            </a:extLst>
          </p:cNvPr>
          <p:cNvSpPr txBox="1"/>
          <p:nvPr/>
        </p:nvSpPr>
        <p:spPr>
          <a:xfrm>
            <a:off x="6337564" y="4741386"/>
            <a:ext cx="455685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00000"/>
                </a:solidFill>
                <a:latin typeface="Aptos"/>
              </a:rPr>
              <a:t>Gambar 2. </a:t>
            </a:r>
            <a:r>
              <a:rPr lang="en-ID" sz="1200" dirty="0" err="1"/>
              <a:t>Perbandingan</a:t>
            </a:r>
            <a:r>
              <a:rPr lang="en-ID" sz="1200" dirty="0"/>
              <a:t> Scattering Density Tungsten dan Timbal</a:t>
            </a:r>
            <a:r>
              <a:rPr lang="en-US" sz="120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0189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8103A-DCFC-6D81-9275-9558BC5F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0174-561D-52DA-E6D8-1052C194A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869" y="3296179"/>
            <a:ext cx="9144000" cy="961496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52BF2E-45F7-840F-7727-F8DB02716CA0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00E50F12-AB82-F043-2184-BAC7506062E9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FD6703BD-826D-156C-2CB1-D73E5892EF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03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890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 Theme</vt:lpstr>
      <vt:lpstr>Cosmic Ray Moun Tomography</vt:lpstr>
      <vt:lpstr>Pendahuluan</vt:lpstr>
      <vt:lpstr>Pemanfaatan Moun sebagai Tomography</vt:lpstr>
      <vt:lpstr>Interaksi Moun dengan Material</vt:lpstr>
      <vt:lpstr>Terima kasih</vt:lpstr>
      <vt:lpstr>Cosmic Ray Moun Tomography</vt:lpstr>
      <vt:lpstr>Cosmic Ray Muon</vt:lpstr>
      <vt:lpstr>Prinsip Cosmic Ray Muon Tomography</vt:lpstr>
      <vt:lpstr>Dua Metode Informasi: Scattering dan Absorption</vt:lpstr>
      <vt:lpstr>Material Dengan Respon Yang Sama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Arraisy Arief</dc:creator>
  <cp:lastModifiedBy>Arraisy Arief</cp:lastModifiedBy>
  <cp:revision>3</cp:revision>
  <cp:lastPrinted>2026-10-29T02:58:46Z</cp:lastPrinted>
  <dcterms:created xsi:type="dcterms:W3CDTF">2026-10-02T15:24:10Z</dcterms:created>
  <dcterms:modified xsi:type="dcterms:W3CDTF">2026-10-29T03:01:19Z</dcterms:modified>
</cp:coreProperties>
</file>